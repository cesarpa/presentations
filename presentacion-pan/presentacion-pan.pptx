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muchos nos gusta el pan. ¿Qué conviene tener en cuenta al elegirlo y comerlo? Veamos sus ingredientes y el contexto, sin convertir un alimento en villano.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todos los panes comerciales llevan los mismos extras. Revisar los ingredientes y distinguir entre harina refinada e integral ayuda a comparar opciones.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panes refinados pueden producir una respuesta de glucosa más rápida que las opciones con más fibra, pero el efecto varía según la comida y la persona. El peso no depende de un alimento aislado.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pan solo no te deja satisfecho, puedes acompañarlo con alimentos que aporten fibra o proteína. La sensación de hambre y energía es individual; no hay un ciclo automático para todas las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hace falta prohibir el pan. Puedes elegir el tipo y la porción que se ajusten a ti, dentro del conjunto de tu alimentación. El movimiento y la hidratación son hábitos saludables, no una forma de borrar lo que comemos.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01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LA 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EL PAN, SIN DRAMA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95338"/>
                </a:solidFill>
                <a:latin typeface="Aptos"/>
              </a:rPr>
              <a:t>LA PREGUNTA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22B27"/>
                </a:solidFill>
                <a:latin typeface="Georgia"/>
              </a:rPr>
              <a:t>¿El pan es
el enemigo?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95338"/>
                </a:solidFill>
                <a:latin typeface="Aptos"/>
              </a:rPr>
              <a:t>Una mirada sin drama a lo que hay en el pan y a cómo encaja en nuestra alimentación.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547872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474720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Está presente en desayunos y onces.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297680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224528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La receta cambia según el tipo de pan.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047488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974336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Importan los ingredientes, la porción y el contexto.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3840480" cy="4343400"/>
          </a:xfrm>
          <a:prstGeom prst="roundRect">
            <a:avLst/>
          </a:prstGeom>
          <a:solidFill>
            <a:srgbClr val="F1EDE2"/>
          </a:solidFill>
          <a:ln w="15875">
            <a:solidFill>
              <a:srgbClr val="D7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8803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95338"/>
                </a:solidFill>
                <a:latin typeface="Aptos"/>
              </a:rPr>
              <a:t>ESPACIO PARA IMAGEN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31012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56C63"/>
                </a:solidFill>
                <a:latin typeface="Georgia"/>
              </a:rPr>
              <a:t>Pan recién horneado
y un signo de pregunta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166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Sustituye este recuadro por tu imagen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02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INGREDIENTES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EL PAN, SIN DRAMA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D705B"/>
                </a:solidFill>
                <a:latin typeface="Aptos"/>
              </a:rPr>
              <a:t>INGREDIENTES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22B27"/>
                </a:solidFill>
                <a:latin typeface="Georgia"/>
              </a:rPr>
              <a:t>No es solo
harina y agua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D705B"/>
                </a:solidFill>
                <a:latin typeface="Aptos"/>
              </a:rPr>
              <a:t>La receta depende del tipo de pan y del proceso de elaboración.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547872"/>
            <a:ext cx="118872" cy="118872"/>
          </a:xfrm>
          <a:prstGeom prst="ellipse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474720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La base suele incluir harina, agua, levadura y sal.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297680"/>
            <a:ext cx="118872" cy="118872"/>
          </a:xfrm>
          <a:prstGeom prst="ellipse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224528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Algunas recetas suman azúcar, grasas, queso u otros ingredientes.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047488"/>
            <a:ext cx="118872" cy="118872"/>
          </a:xfrm>
          <a:prstGeom prst="ellipse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974336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El pan integral suele aportar más fibra que el refinado.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3840480" cy="4343400"/>
          </a:xfrm>
          <a:prstGeom prst="roundRect">
            <a:avLst/>
          </a:prstGeom>
          <a:solidFill>
            <a:srgbClr val="F1EDE2"/>
          </a:solidFill>
          <a:ln w="15875">
            <a:solidFill>
              <a:srgbClr val="D7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8803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D705B"/>
                </a:solidFill>
                <a:latin typeface="Aptos"/>
              </a:rPr>
              <a:t>ESPACIO PARA IMAGEN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31012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56C63"/>
                </a:solidFill>
                <a:latin typeface="Georgia"/>
              </a:rPr>
              <a:t>Trigo, azúcar
y mantequilla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166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Sustituye este recuadro por tu imagen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03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GLUCOSA Y ENERGÍA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EL PAN, SIN DRAMA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95338"/>
                </a:solidFill>
                <a:latin typeface="Aptos"/>
              </a:rPr>
              <a:t>GLUCOSA Y ENERGÍA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22B27"/>
                </a:solidFill>
                <a:latin typeface="Georgia"/>
              </a:rPr>
              <a:t>¿Qué pasa
con la glucosa?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95338"/>
                </a:solidFill>
                <a:latin typeface="Aptos"/>
              </a:rPr>
              <a:t>La respuesta depende del pan, de la comida completa y de cada persona.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547872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474720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El pan refinado puede digerirse más rápido que uno integral.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297680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224528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La respuesta de glucosa no es igual para todo el mundo.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047488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974336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Comer pan, por sí solo, no determina el aumento de peso.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3840480" cy="4343400"/>
          </a:xfrm>
          <a:prstGeom prst="roundRect">
            <a:avLst/>
          </a:prstGeom>
          <a:solidFill>
            <a:srgbClr val="F1EDE2"/>
          </a:solidFill>
          <a:ln w="15875">
            <a:solidFill>
              <a:srgbClr val="D7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8803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95338"/>
                </a:solidFill>
                <a:latin typeface="Aptos"/>
              </a:rPr>
              <a:t>ESPACIO PARA IMAGEN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31012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56C63"/>
                </a:solidFill>
                <a:latin typeface="Georgia"/>
              </a:rPr>
              <a:t>Una curva de energía
con subidas y bajadas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166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Sustituye este recuadro por tu imagen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04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SACIEDAD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EL PAN, SIN DRAMA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D705B"/>
                </a:solidFill>
                <a:latin typeface="Aptos"/>
              </a:rPr>
              <a:t>SACIEDAD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22B27"/>
                </a:solidFill>
                <a:latin typeface="Georgia"/>
              </a:rPr>
              <a:t>Hambre: no hay
una sola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D705B"/>
                </a:solidFill>
                <a:latin typeface="Aptos"/>
              </a:rPr>
              <a:t>La fibra y la combinación de alimentos pueden influir en cuánto satisface una comida.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547872"/>
            <a:ext cx="118872" cy="118872"/>
          </a:xfrm>
          <a:prstGeom prst="ellipse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474720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Las opciones con menos fibra pueden saciar menos a algunas personas.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297680"/>
            <a:ext cx="118872" cy="118872"/>
          </a:xfrm>
          <a:prstGeom prst="ellipse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224528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Combinar el pan con alimentos ricos en fibra o proteína puede hacer la comida más completa.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047488"/>
            <a:ext cx="118872" cy="118872"/>
          </a:xfrm>
          <a:prstGeom prst="ellipse">
            <a:avLst/>
          </a:prstGeom>
          <a:solidFill>
            <a:srgbClr val="4D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974336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No existe un bajón o antojo inevitable después de comer pan.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3840480" cy="4343400"/>
          </a:xfrm>
          <a:prstGeom prst="roundRect">
            <a:avLst/>
          </a:prstGeom>
          <a:solidFill>
            <a:srgbClr val="F1EDE2"/>
          </a:solidFill>
          <a:ln w="15875">
            <a:solidFill>
              <a:srgbClr val="D7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8803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D705B"/>
                </a:solidFill>
                <a:latin typeface="Aptos"/>
              </a:rPr>
              <a:t>ESPACIO PARA IMAGEN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31012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56C63"/>
                </a:solidFill>
                <a:latin typeface="Georgia"/>
              </a:rPr>
              <a:t>Una comida equilibrada
y una barra de 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166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Sustituye este recuadro por tu imagen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05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EN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47395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6C63"/>
                </a:solidFill>
                <a:latin typeface="Aptos"/>
              </a:rPr>
              <a:t>EL PAN, SIN DRAMA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95338"/>
                </a:solidFill>
                <a:latin typeface="Aptos"/>
              </a:rPr>
              <a:t>EN RESUMEN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22B27"/>
                </a:solidFill>
                <a:latin typeface="Georgia"/>
              </a:rPr>
              <a:t>El pan no es
un monstruo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95338"/>
                </a:solidFill>
                <a:latin typeface="Aptos"/>
              </a:rPr>
              <a:t>Puede formar parte de una alimentación equilibrada; la elección y la cantidad dependen de cada persona.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547872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474720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Elige según tus necesidades y preferencias; compara ingredientes y fibra.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297680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224528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Una caminata puede favorecer la salud, pero no “quema” una comida al instante.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047488"/>
            <a:ext cx="118872" cy="118872"/>
          </a:xfrm>
          <a:prstGeom prst="ellipse">
            <a:avLst/>
          </a:prstGeom>
          <a:solidFill>
            <a:srgbClr val="B9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974336"/>
            <a:ext cx="62636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27"/>
                </a:solidFill>
                <a:latin typeface="Aptos"/>
              </a:rPr>
              <a:t>Hidratarse es importante, aunque el agua no neutraliza los ingredientes del pan.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3840480" cy="4343400"/>
          </a:xfrm>
          <a:prstGeom prst="roundRect">
            <a:avLst/>
          </a:prstGeom>
          <a:solidFill>
            <a:srgbClr val="F1EDE2"/>
          </a:solidFill>
          <a:ln w="15875">
            <a:solidFill>
              <a:srgbClr val="D7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8803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95338"/>
                </a:solidFill>
                <a:latin typeface="Aptos"/>
              </a:rPr>
              <a:t>ESPACIO PARA IMAGEN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31012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56C63"/>
                </a:solidFill>
                <a:latin typeface="Georgia"/>
              </a:rPr>
              <a:t>Pan, agua y movimiento
en equilibrio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166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56C63"/>
                </a:solidFill>
                <a:latin typeface="Aptos"/>
              </a:rPr>
              <a:t>Sustituye este recuadro por tu imagen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¿El pan es el enemigo?</dc:title>
  <dc:subject>Presentación sobre ingredientes, glucosa y saciedad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